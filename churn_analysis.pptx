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8C83-CCDB-4D51-851C-5D493AD18A0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D603-6855-4673-81C5-45E4511C6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015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8C83-CCDB-4D51-851C-5D493AD18A0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D603-6855-4673-81C5-45E4511C6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46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8C83-CCDB-4D51-851C-5D493AD18A0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D603-6855-4673-81C5-45E4511C6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6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8C83-CCDB-4D51-851C-5D493AD18A0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D603-6855-4673-81C5-45E4511C6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14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8C83-CCDB-4D51-851C-5D493AD18A0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D603-6855-4673-81C5-45E4511C6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57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8C83-CCDB-4D51-851C-5D493AD18A0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D603-6855-4673-81C5-45E4511C6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2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8C83-CCDB-4D51-851C-5D493AD18A0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D603-6855-4673-81C5-45E4511C6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73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8C83-CCDB-4D51-851C-5D493AD18A0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D603-6855-4673-81C5-45E4511C6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3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8C83-CCDB-4D51-851C-5D493AD18A0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D603-6855-4673-81C5-45E4511C6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013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8C83-CCDB-4D51-851C-5D493AD18A0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D603-6855-4673-81C5-45E4511C6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140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8C83-CCDB-4D51-851C-5D493AD18A0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D603-6855-4673-81C5-45E4511C6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0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98C83-CCDB-4D51-851C-5D493AD18A06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8D603-6855-4673-81C5-45E4511C6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241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73152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1628" y="201168"/>
            <a:ext cx="2743200" cy="1051560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1628" y="201168"/>
            <a:ext cx="2743200" cy="8229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1628" y="292609"/>
            <a:ext cx="2743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6C63FF"/>
                </a:solidFill>
                <a:latin typeface="Arial Black"/>
              </a:rPr>
              <a:t>50K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1628" y="822960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BDC3D6"/>
                </a:solidFill>
                <a:latin typeface="Calibri"/>
              </a:rPr>
              <a:t>Total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3700" y="201168"/>
            <a:ext cx="2743200" cy="1051560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83700" y="201168"/>
            <a:ext cx="2743200" cy="8229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83700" y="292609"/>
            <a:ext cx="2743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6B6B"/>
                </a:solidFill>
                <a:latin typeface="Arial Black"/>
              </a:rPr>
              <a:t>15.78%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3700" y="822960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BDC3D6"/>
                </a:solidFill>
                <a:latin typeface="Calibri"/>
              </a:rPr>
              <a:t>Churn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5771" y="201168"/>
            <a:ext cx="2743200" cy="1051560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45771" y="201168"/>
            <a:ext cx="2743200" cy="8229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45771" y="292609"/>
            <a:ext cx="2743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34D399"/>
                </a:solidFill>
                <a:latin typeface="Arial Black"/>
              </a:rPr>
              <a:t>42.11K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5771" y="822960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BDC3D6"/>
                </a:solidFill>
                <a:latin typeface="Calibri"/>
              </a:rPr>
              <a:t>Active Users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7844" y="201168"/>
            <a:ext cx="2743200" cy="1051560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07844" y="201168"/>
            <a:ext cx="2743200" cy="82296"/>
          </a:xfrm>
          <a:prstGeom prst="rect">
            <a:avLst/>
          </a:prstGeom>
          <a:solidFill>
            <a:srgbClr val="FFC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07844" y="292609"/>
            <a:ext cx="2743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C83D"/>
                </a:solidFill>
                <a:latin typeface="Arial Black"/>
              </a:rPr>
              <a:t>7.89K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7844" y="822960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BDC3D6"/>
                </a:solidFill>
                <a:latin typeface="Calibri"/>
              </a:rPr>
              <a:t>Churned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348" y="1481328"/>
            <a:ext cx="1145743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 Black"/>
              </a:rPr>
              <a:t>Churn isn't about engagement…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348" y="2194560"/>
            <a:ext cx="114574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6C63FF"/>
                </a:solidFill>
                <a:latin typeface="Arial Black"/>
              </a:rPr>
              <a:t>it's about disappearance.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348" y="2999233"/>
            <a:ext cx="114574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BDC3D6"/>
                </a:solidFill>
                <a:latin typeface="Calibri"/>
              </a:rPr>
              <a:t>A data-driven look at what actually makes users leave — Music Streaming Platform,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7348" y="3547872"/>
            <a:ext cx="11457432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373188" y="4608576"/>
            <a:ext cx="731520" cy="110642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397316" y="4065423"/>
            <a:ext cx="731520" cy="1649577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21444" y="4749393"/>
            <a:ext cx="731520" cy="96560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45572" y="3803905"/>
            <a:ext cx="731520" cy="1911095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69700" y="4447641"/>
            <a:ext cx="731520" cy="126735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93828" y="4206240"/>
            <a:ext cx="731520" cy="15087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517956" y="4910328"/>
            <a:ext cx="731520" cy="8046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542084" y="3944721"/>
            <a:ext cx="731520" cy="177027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66212" y="4507992"/>
            <a:ext cx="731520" cy="1207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590340" y="4266591"/>
            <a:ext cx="731520" cy="1448409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348" y="6565393"/>
            <a:ext cx="11457432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 dirty="0">
                <a:solidFill>
                  <a:srgbClr val="FFFF00"/>
                </a:solidFill>
                <a:latin typeface="Calibri"/>
              </a:rPr>
              <a:t>Nisha Kumari  |  Music Streaming Churn Analysis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7348" y="6528816"/>
            <a:ext cx="11457432" cy="18288"/>
          </a:xfrm>
          <a:prstGeom prst="rect">
            <a:avLst/>
          </a:prstGeom>
          <a:solidFill>
            <a:srgbClr val="2A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31160" y="6023444"/>
            <a:ext cx="5702236" cy="37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Behavioral analysis of 50,000 users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7348" y="201168"/>
            <a:ext cx="1645920" cy="347472"/>
          </a:xfrm>
          <a:prstGeom prst="roundRect">
            <a:avLst>
              <a:gd name="adj" fmla="val 2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228601"/>
            <a:ext cx="1645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02 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348" y="685801"/>
            <a:ext cx="11457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 Black"/>
              </a:rPr>
              <a:t>The Questions I Wanted to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349" y="1554480"/>
            <a:ext cx="3749039" cy="2468880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7349" y="1554480"/>
            <a:ext cx="3749039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7349" y="1691641"/>
            <a:ext cx="37490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>
                <a:solidFill>
                  <a:srgbClr val="FFFFFF"/>
                </a:solidFill>
                <a:latin typeface="Calibri"/>
              </a:rPr>
              <a:t>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508" y="2395729"/>
            <a:ext cx="3474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Why do users churn?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508" y="2962657"/>
            <a:ext cx="3474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 dirty="0">
                <a:solidFill>
                  <a:srgbClr val="BDC3D6"/>
                </a:solidFill>
                <a:latin typeface="Calibri"/>
              </a:rPr>
              <a:t>Is it behavior, subscription tier, or something less visible?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7557" y="1554480"/>
            <a:ext cx="3749039" cy="2468880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7557" y="1554480"/>
            <a:ext cx="3749039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17557" y="1691641"/>
            <a:ext cx="37490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4716" y="2395729"/>
            <a:ext cx="3474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Does engagement really matter?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4716" y="2962657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 dirty="0">
                <a:solidFill>
                  <a:srgbClr val="BDC3D6"/>
                </a:solidFill>
                <a:latin typeface="Calibri"/>
              </a:rPr>
              <a:t>Or are we measuring the wrong signals entirely?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7764" y="1554480"/>
            <a:ext cx="3749039" cy="2468880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67764" y="1554480"/>
            <a:ext cx="3749039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7764" y="1691641"/>
            <a:ext cx="37490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>
                <a:solidFill>
                  <a:srgbClr val="FFFFFF"/>
                </a:solidFill>
                <a:latin typeface="Calibri"/>
              </a:rPr>
              <a:t>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4924" y="2395729"/>
            <a:ext cx="3474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Can we predict churn early?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4924" y="2962657"/>
            <a:ext cx="3474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BDC3D6"/>
                </a:solidFill>
                <a:latin typeface="Calibri"/>
              </a:rPr>
              <a:t>Before it's too late to retain the user?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348" y="4663440"/>
            <a:ext cx="114574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 dirty="0">
                <a:solidFill>
                  <a:srgbClr val="BDC3D6"/>
                </a:solidFill>
                <a:latin typeface="Calibri"/>
              </a:rPr>
              <a:t>Dataset: Music Streaming User Behavior  |  50,000 Users  |  Tools: Excel · SQL · Power 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348" y="6565393"/>
            <a:ext cx="11457432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 dirty="0">
                <a:solidFill>
                  <a:srgbClr val="FFFF00"/>
                </a:solidFill>
                <a:latin typeface="Calibri"/>
              </a:rPr>
              <a:t>Nisha Kumari  |  Music Streaming Churn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348" y="6528816"/>
            <a:ext cx="11457432" cy="18288"/>
          </a:xfrm>
          <a:prstGeom prst="rect">
            <a:avLst/>
          </a:prstGeom>
          <a:solidFill>
            <a:srgbClr val="2A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73152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7348" y="201168"/>
            <a:ext cx="1508760" cy="347472"/>
          </a:xfrm>
          <a:prstGeom prst="roundRect">
            <a:avLst>
              <a:gd name="adj" fmla="val 28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228601"/>
            <a:ext cx="1508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03 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348" y="685801"/>
            <a:ext cx="11457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 Black"/>
              </a:rPr>
              <a:t>What I Analyzed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348" y="1572769"/>
            <a:ext cx="5577840" cy="1874519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7348" y="1572769"/>
            <a:ext cx="73152" cy="1874519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8516" y="1801369"/>
            <a:ext cx="640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6613" y="1737361"/>
            <a:ext cx="448055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Engagement Levels vs Churn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6613" y="2194560"/>
            <a:ext cx="4480559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BDC3D6"/>
                </a:solidFill>
                <a:latin typeface="Calibri"/>
              </a:rPr>
              <a:t>Compared High / Medium / Low engagement against churn rates to see if usage intensity predicts leaving.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6356" y="1572769"/>
            <a:ext cx="5577840" cy="1874519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46356" y="1572769"/>
            <a:ext cx="73152" cy="1874519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7524" y="1801369"/>
            <a:ext cx="640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Calibri"/>
              </a:rPr>
              <a:t>⏭️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5620" y="1737361"/>
            <a:ext cx="448055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Skip Behavior vs Churn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5620" y="2194560"/>
            <a:ext cx="4480559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BDC3D6"/>
                </a:solidFill>
                <a:latin typeface="Calibri"/>
              </a:rPr>
              <a:t>Analyzed Low, Medium and High skip groups — does frequently skipping songs signal dissatisfaction?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7348" y="3666745"/>
            <a:ext cx="5577840" cy="1874519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7348" y="3666745"/>
            <a:ext cx="73152" cy="1874519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8516" y="3895345"/>
            <a:ext cx="640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Calibri"/>
              </a:rPr>
              <a:t>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6613" y="3831336"/>
            <a:ext cx="448055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Inactivity 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6613" y="4288536"/>
            <a:ext cx="4480559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BDC3D6"/>
                </a:solidFill>
                <a:latin typeface="Calibri"/>
              </a:rPr>
              <a:t>Measured inactive vs active users and their churn probability — this turned out to be the key driver.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356" y="3666745"/>
            <a:ext cx="5577840" cy="1874519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46356" y="3666745"/>
            <a:ext cx="73152" cy="1874519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47524" y="3895345"/>
            <a:ext cx="640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5620" y="3831336"/>
            <a:ext cx="448055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Listening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5620" y="4288536"/>
            <a:ext cx="4480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chemeClr val="bg1">
                    <a:lumMod val="75000"/>
                  </a:schemeClr>
                </a:solidFill>
              </a:rPr>
              <a:t>Compared listening duration across churned vs active users</a:t>
            </a:r>
            <a:endParaRPr sz="1150" dirty="0">
              <a:solidFill>
                <a:schemeClr val="bg1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7348" y="6565393"/>
            <a:ext cx="11457432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BDC3D6"/>
                </a:solidFill>
                <a:latin typeface="Calibri"/>
              </a:rPr>
              <a:t>Nisha Kumari  |  Music Streaming Churn Analysis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7348" y="6528816"/>
            <a:ext cx="11457432" cy="18288"/>
          </a:xfrm>
          <a:prstGeom prst="rect">
            <a:avLst/>
          </a:prstGeom>
          <a:solidFill>
            <a:srgbClr val="2A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73152" cy="6858000"/>
          </a:xfrm>
          <a:prstGeom prst="rect">
            <a:avLst/>
          </a:prstGeom>
          <a:solidFill>
            <a:srgbClr val="FFC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7348" y="201168"/>
            <a:ext cx="1828800" cy="347472"/>
          </a:xfrm>
          <a:prstGeom prst="roundRect">
            <a:avLst>
              <a:gd name="adj" fmla="val 28000"/>
            </a:avLst>
          </a:prstGeom>
          <a:solidFill>
            <a:srgbClr val="FFC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228601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04  KEY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348" y="685801"/>
            <a:ext cx="11457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 Black"/>
              </a:rPr>
              <a:t>What the Data Revealed 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348" y="1572768"/>
            <a:ext cx="5669280" cy="1600200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7348" y="1572768"/>
            <a:ext cx="566928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0228" y="1828801"/>
            <a:ext cx="640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4900" y="1709929"/>
            <a:ext cx="4553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F6B6B"/>
                </a:solidFill>
                <a:latin typeface="Calibri"/>
              </a:rPr>
              <a:t>Inactivity Is the #1 Churn Driver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4900" y="2167129"/>
            <a:ext cx="4553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BDC3D6"/>
                </a:solidFill>
                <a:latin typeface="Calibri"/>
              </a:rPr>
              <a:t>Inactive users churned at a dramatically higher rate than active users — the clearest signal in the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10948" y="1572768"/>
            <a:ext cx="5669280" cy="1600200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10948" y="1572768"/>
            <a:ext cx="5669280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3828" y="1828801"/>
            <a:ext cx="640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Calibri"/>
              </a:rPr>
              <a:t>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8500" y="1709929"/>
            <a:ext cx="4553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6C63FF"/>
                </a:solidFill>
                <a:latin typeface="Calibri"/>
              </a:rPr>
              <a:t>Engagement Has Minimal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8500" y="2167129"/>
            <a:ext cx="4553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BDC3D6"/>
                </a:solidFill>
                <a:latin typeface="Calibri"/>
              </a:rPr>
              <a:t>High, Medium &amp; Low engagement users showed nearly identical churn rates </a:t>
            </a:r>
            <a:r>
              <a:rPr sz="1400" b="1" i="1" dirty="0">
                <a:solidFill>
                  <a:srgbClr val="FFFF00"/>
                </a:solidFill>
                <a:latin typeface="Calibri"/>
              </a:rPr>
              <a:t>(~15.75–16.79%). </a:t>
            </a:r>
            <a:r>
              <a:rPr sz="1400" dirty="0">
                <a:solidFill>
                  <a:srgbClr val="BDC3D6"/>
                </a:solidFill>
                <a:latin typeface="Calibri"/>
              </a:rPr>
              <a:t>Not predictive.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7348" y="3401568"/>
            <a:ext cx="5669280" cy="1600200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7348" y="3401568"/>
            <a:ext cx="566928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0228" y="3657601"/>
            <a:ext cx="640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Calibri"/>
              </a:rPr>
              <a:t>⏭️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4900" y="3538729"/>
            <a:ext cx="4553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D4FF"/>
                </a:solidFill>
                <a:latin typeface="Calibri"/>
              </a:rPr>
              <a:t>Skip Behavior: Surprisingly Flat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4900" y="3995929"/>
            <a:ext cx="4553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BDC3D6"/>
                </a:solidFill>
                <a:latin typeface="Calibri"/>
              </a:rPr>
              <a:t>Churn rates were near-equal across </a:t>
            </a:r>
            <a:r>
              <a:rPr sz="1400" b="1" i="1" dirty="0">
                <a:solidFill>
                  <a:srgbClr val="FFFF00"/>
                </a:solidFill>
                <a:latin typeface="Calibri"/>
              </a:rPr>
              <a:t>Low (16.53%), </a:t>
            </a:r>
            <a:r>
              <a:rPr sz="1400" dirty="0">
                <a:solidFill>
                  <a:srgbClr val="BDC3D6"/>
                </a:solidFill>
                <a:latin typeface="Calibri"/>
              </a:rPr>
              <a:t>Medium </a:t>
            </a:r>
            <a:r>
              <a:rPr sz="1400" b="1" dirty="0">
                <a:solidFill>
                  <a:srgbClr val="FFFF00"/>
                </a:solidFill>
                <a:latin typeface="Calibri"/>
              </a:rPr>
              <a:t>(15.64%) </a:t>
            </a:r>
            <a:r>
              <a:rPr sz="1400" dirty="0">
                <a:solidFill>
                  <a:srgbClr val="BDC3D6"/>
                </a:solidFill>
                <a:latin typeface="Calibri"/>
              </a:rPr>
              <a:t>and High (</a:t>
            </a:r>
            <a:r>
              <a:rPr sz="1400" b="1" i="1" dirty="0">
                <a:solidFill>
                  <a:srgbClr val="FFFF00"/>
                </a:solidFill>
                <a:latin typeface="Calibri"/>
              </a:rPr>
              <a:t>15.79%) </a:t>
            </a:r>
            <a:r>
              <a:rPr sz="1400" dirty="0">
                <a:solidFill>
                  <a:srgbClr val="BDC3D6"/>
                </a:solidFill>
                <a:latin typeface="Calibri"/>
              </a:rPr>
              <a:t>skip groups.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0948" y="3401568"/>
            <a:ext cx="5669280" cy="1600200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10948" y="3401568"/>
            <a:ext cx="566928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3828" y="3657601"/>
            <a:ext cx="640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8500" y="3538729"/>
            <a:ext cx="4553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34D399"/>
                </a:solidFill>
                <a:latin typeface="Calibri"/>
              </a:rPr>
              <a:t>Listening Time: Almost Identical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8500" y="3995929"/>
            <a:ext cx="4553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BDC3D6"/>
                </a:solidFill>
                <a:latin typeface="Calibri"/>
              </a:rPr>
              <a:t>Churned and active users had near-identical average daily listening durations. Duration alone doesn't predict churn.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348" y="6565393"/>
            <a:ext cx="11457432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 dirty="0">
                <a:solidFill>
                  <a:srgbClr val="FFFF00"/>
                </a:solidFill>
                <a:latin typeface="Calibri"/>
              </a:rPr>
              <a:t>Nisha Kumari  |  Music Streaming Churn Analysis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7348" y="6528816"/>
            <a:ext cx="11457432" cy="18288"/>
          </a:xfrm>
          <a:prstGeom prst="rect">
            <a:avLst/>
          </a:prstGeom>
          <a:solidFill>
            <a:srgbClr val="2A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73152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7348" y="201168"/>
            <a:ext cx="1554480" cy="347472"/>
          </a:xfrm>
          <a:prstGeom prst="roundRect">
            <a:avLst>
              <a:gd name="adj" fmla="val 28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228601"/>
            <a:ext cx="1554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05  EXCEL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348" y="685801"/>
            <a:ext cx="11457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 Black"/>
              </a:rPr>
              <a:t>Data Preparation  (Excel)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348" y="1572768"/>
            <a:ext cx="5303520" cy="960120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04508" y="1828800"/>
            <a:ext cx="475488" cy="47548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4508" y="1819656"/>
            <a:ext cx="47548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5444" y="1682495"/>
            <a:ext cx="4343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Cleaned Raw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444" y="2084832"/>
            <a:ext cx="4343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DC3D6"/>
                </a:solidFill>
                <a:latin typeface="Calibri"/>
              </a:rPr>
              <a:t>Nulls handled, data types fixed, columns standardized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7348" y="2615184"/>
            <a:ext cx="5303520" cy="960120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4508" y="2871215"/>
            <a:ext cx="475488" cy="47548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4508" y="2862072"/>
            <a:ext cx="47548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5444" y="2724912"/>
            <a:ext cx="4343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Created Derived 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5444" y="3127248"/>
            <a:ext cx="4343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DC3D6"/>
                </a:solidFill>
                <a:latin typeface="Calibri"/>
              </a:rPr>
              <a:t>engagement_level, skip_group, inactivity flags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7348" y="3657600"/>
            <a:ext cx="5303520" cy="960120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4508" y="3913632"/>
            <a:ext cx="475488" cy="47548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4508" y="3904487"/>
            <a:ext cx="47548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5444" y="3767328"/>
            <a:ext cx="4343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Built Pivot 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5444" y="4169664"/>
            <a:ext cx="4343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DC3D6"/>
                </a:solidFill>
                <a:latin typeface="Calibri"/>
              </a:rPr>
              <a:t>Churn by subscription, engagement, skip &amp; inactivity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7348" y="4700016"/>
            <a:ext cx="5303520" cy="960120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04508" y="4956048"/>
            <a:ext cx="475488" cy="47548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4508" y="4946904"/>
            <a:ext cx="47548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5444" y="4809744"/>
            <a:ext cx="4343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Identified Key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5444" y="5212079"/>
            <a:ext cx="4343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DC3D6"/>
                </a:solidFill>
                <a:latin typeface="Calibri"/>
              </a:rPr>
              <a:t>Inactivity emerged as key driver before visualisation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5188" y="1444753"/>
            <a:ext cx="5989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34D399"/>
                </a:solidFill>
                <a:latin typeface="Calibri"/>
              </a:rPr>
              <a:t>Pivot Tables</a:t>
            </a:r>
          </a:p>
        </p:txBody>
      </p:sp>
      <p:pic>
        <p:nvPicPr>
          <p:cNvPr id="28" name="Picture 27" descr="excel_pivo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188" y="1874519"/>
            <a:ext cx="5989320" cy="2103120"/>
          </a:xfrm>
          <a:prstGeom prst="rect">
            <a:avLst/>
          </a:prstGeom>
        </p:spPr>
      </p:pic>
      <p:pic>
        <p:nvPicPr>
          <p:cNvPr id="29" name="Picture 28" descr="excel_pivo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188" y="4059936"/>
            <a:ext cx="2926080" cy="1993392"/>
          </a:xfrm>
          <a:prstGeom prst="rect">
            <a:avLst/>
          </a:prstGeom>
        </p:spPr>
      </p:pic>
      <p:pic>
        <p:nvPicPr>
          <p:cNvPr id="30" name="Picture 29" descr="excel_pivot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5276" y="4059936"/>
            <a:ext cx="2999232" cy="199339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67348" y="6565393"/>
            <a:ext cx="11457432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 dirty="0">
                <a:solidFill>
                  <a:srgbClr val="FFFF00"/>
                </a:solidFill>
                <a:latin typeface="Calibri"/>
              </a:rPr>
              <a:t>Nisha Kumari  |  Music Streaming Churn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7348" y="6528816"/>
            <a:ext cx="11457432" cy="18288"/>
          </a:xfrm>
          <a:prstGeom prst="rect">
            <a:avLst/>
          </a:prstGeom>
          <a:solidFill>
            <a:srgbClr val="2A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7315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7348" y="201168"/>
            <a:ext cx="1417320" cy="347472"/>
          </a:xfrm>
          <a:prstGeom prst="roundRect">
            <a:avLst>
              <a:gd name="adj" fmla="val 2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228601"/>
            <a:ext cx="1417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06 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348" y="685801"/>
            <a:ext cx="11457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 Black"/>
              </a:rPr>
              <a:t>Data Analysis  (SQL)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348" y="1572768"/>
            <a:ext cx="5303520" cy="960120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04508" y="1828800"/>
            <a:ext cx="475488" cy="47548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4508" y="1819656"/>
            <a:ext cx="47548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5444" y="1682495"/>
            <a:ext cx="4343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Extracted Churn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444" y="2084832"/>
            <a:ext cx="4343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DC3D6"/>
                </a:solidFill>
                <a:latin typeface="Calibri"/>
              </a:rPr>
              <a:t>Churn rate, active count, subscription breakdowns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7348" y="2615184"/>
            <a:ext cx="5303520" cy="960120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4508" y="2871215"/>
            <a:ext cx="475488" cy="47548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4508" y="2862072"/>
            <a:ext cx="47548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5444" y="2724912"/>
            <a:ext cx="4343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Grouped by Behavior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5444" y="3127248"/>
            <a:ext cx="4343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DC3D6"/>
                </a:solidFill>
                <a:latin typeface="Calibri"/>
              </a:rPr>
              <a:t>GROUP BY skip_group, engagement_level, inactivity flag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7348" y="3657600"/>
            <a:ext cx="5303520" cy="960120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4508" y="3913632"/>
            <a:ext cx="475488" cy="47548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4508" y="3904487"/>
            <a:ext cx="47548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5444" y="3767328"/>
            <a:ext cx="4343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Calculated Churn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5444" y="4169664"/>
            <a:ext cx="4343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smtClean="0">
                <a:solidFill>
                  <a:schemeClr val="bg1">
                    <a:lumMod val="75000"/>
                  </a:schemeClr>
                </a:solidFill>
              </a:rPr>
              <a:t>Calculated churn % using conditional aggregation</a:t>
            </a:r>
            <a:endParaRPr sz="1100" dirty="0">
              <a:solidFill>
                <a:schemeClr val="bg1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7348" y="4700016"/>
            <a:ext cx="5303520" cy="960120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04508" y="4956048"/>
            <a:ext cx="475488" cy="47548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4508" y="4946904"/>
            <a:ext cx="47548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5444" y="4809744"/>
            <a:ext cx="4343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Validated Excel Findings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5444" y="5212079"/>
            <a:ext cx="4343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DC3D6"/>
                </a:solidFill>
                <a:latin typeface="Calibri"/>
              </a:rPr>
              <a:t>Cross-checked every pivot insight with SQL result sets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5188" y="658369"/>
            <a:ext cx="5989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F6B6B"/>
                </a:solidFill>
                <a:latin typeface="Calibri"/>
              </a:rPr>
              <a:t>SQL Queries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5188" y="1078992"/>
            <a:ext cx="598932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45188" y="1152144"/>
            <a:ext cx="5989320" cy="1353312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sql_sk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340" y="1207008"/>
            <a:ext cx="5852160" cy="1243584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5945188" y="2596896"/>
            <a:ext cx="5989320" cy="123444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sql_engag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340" y="2651760"/>
            <a:ext cx="5852160" cy="1115568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5945188" y="3913632"/>
            <a:ext cx="5989320" cy="1170432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sql_in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340" y="3968495"/>
            <a:ext cx="5852160" cy="114300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67348" y="6565393"/>
            <a:ext cx="114574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i="1" dirty="0">
                <a:solidFill>
                  <a:srgbClr val="FFFF00"/>
                </a:solidFill>
                <a:latin typeface="Calibri"/>
              </a:rPr>
              <a:t>Nisha Kumari  |  Music Streaming Churn Analysis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7348" y="6528816"/>
            <a:ext cx="11457432" cy="18288"/>
          </a:xfrm>
          <a:prstGeom prst="rect">
            <a:avLst/>
          </a:prstGeom>
          <a:solidFill>
            <a:srgbClr val="2A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73152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7348" y="201168"/>
            <a:ext cx="2011680" cy="347472"/>
          </a:xfrm>
          <a:prstGeom prst="roundRect">
            <a:avLst>
              <a:gd name="adj" fmla="val 2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228601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07 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2148" y="373112"/>
            <a:ext cx="777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>
                <a:solidFill>
                  <a:srgbClr val="FFFFFF"/>
                </a:solidFill>
                <a:latin typeface="Arial Black"/>
              </a:rPr>
              <a:t>Final Dashboard</a:t>
            </a:r>
          </a:p>
        </p:txBody>
      </p:sp>
      <p:pic>
        <p:nvPicPr>
          <p:cNvPr id="7" name="Picture 6" descr="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48" y="1207008"/>
            <a:ext cx="8732520" cy="4983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008428" y="1399032"/>
            <a:ext cx="54864" cy="685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5588" y="1325881"/>
            <a:ext cx="288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6C63FF"/>
                </a:solidFill>
                <a:latin typeface="Calibri"/>
              </a:rPr>
              <a:t>Interactive Filters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5588" y="1746504"/>
            <a:ext cx="2880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BDC3D6"/>
                </a:solidFill>
                <a:latin typeface="Calibri"/>
              </a:rPr>
              <a:t>Slice by Genre, Subscription &amp; Engagement level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8428" y="2569464"/>
            <a:ext cx="54864" cy="685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5588" y="2496313"/>
            <a:ext cx="288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6B6B"/>
                </a:solidFill>
                <a:latin typeface="Calibri"/>
              </a:rPr>
              <a:t>Churn KPIs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5588" y="2916936"/>
            <a:ext cx="2880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BDC3D6"/>
                </a:solidFill>
                <a:latin typeface="Calibri"/>
              </a:rPr>
              <a:t>15.78% rate · 50K users · 7.89K churned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8428" y="3739896"/>
            <a:ext cx="54864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5588" y="3666745"/>
            <a:ext cx="288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34D399"/>
                </a:solidFill>
                <a:latin typeface="Calibri"/>
              </a:rPr>
              <a:t>4-Chart Layout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5588" y="4087368"/>
            <a:ext cx="2880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BDC3D6"/>
                </a:solidFill>
                <a:latin typeface="Calibri"/>
              </a:rPr>
              <a:t>Skip, Engagement, Subscription &amp; Inactivity views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8428" y="4910327"/>
            <a:ext cx="54864" cy="685800"/>
          </a:xfrm>
          <a:prstGeom prst="rect">
            <a:avLst/>
          </a:prstGeom>
          <a:solidFill>
            <a:srgbClr val="FFC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5588" y="4837176"/>
            <a:ext cx="288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C83D"/>
                </a:solidFill>
                <a:latin typeface="Calibri"/>
              </a:rPr>
              <a:t>Key Finding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5588" y="5257800"/>
            <a:ext cx="2880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dirty="0">
                <a:solidFill>
                  <a:srgbClr val="BDC3D6"/>
                </a:solidFill>
                <a:latin typeface="Calibri"/>
              </a:rPr>
              <a:t>Inactivity is the dominant churn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348" y="6565393"/>
            <a:ext cx="11457432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 dirty="0">
                <a:solidFill>
                  <a:srgbClr val="FFFF00"/>
                </a:solidFill>
                <a:latin typeface="Calibri"/>
              </a:rPr>
              <a:t>Nisha Kumari  |  Music Streaming Churn Analysis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7348" y="6528816"/>
            <a:ext cx="11457432" cy="18288"/>
          </a:xfrm>
          <a:prstGeom prst="rect">
            <a:avLst/>
          </a:prstGeom>
          <a:solidFill>
            <a:srgbClr val="2A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7348" y="201168"/>
            <a:ext cx="2011680" cy="347472"/>
          </a:xfrm>
          <a:prstGeom prst="roundRect">
            <a:avLst>
              <a:gd name="adj" fmla="val 28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7348" y="228601"/>
            <a:ext cx="201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0F172A"/>
                </a:solidFill>
                <a:latin typeface="Calibri"/>
              </a:rPr>
              <a:t>08  LEARNINGS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348" y="685801"/>
            <a:ext cx="11457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 Black"/>
              </a:rPr>
              <a:t>What I Learned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348" y="1572768"/>
            <a:ext cx="11173968" cy="1417320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7348" y="1572768"/>
            <a:ext cx="11173968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7076" y="1847088"/>
            <a:ext cx="731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FFFFFF"/>
                </a:solidFill>
                <a:latin typeface="Calibri"/>
              </a:rPr>
              <a:t>🕰️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1476" y="1700785"/>
            <a:ext cx="98298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D4FF"/>
                </a:solidFill>
                <a:latin typeface="Calibri"/>
              </a:rPr>
              <a:t>Churn Builds Silently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1476" y="2212848"/>
            <a:ext cx="9829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BDC3D6"/>
                </a:solidFill>
                <a:latin typeface="Calibri"/>
              </a:rPr>
              <a:t>Users don't leave suddenly — they drift. Inactivity is the earliest and clearest warning sign available.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7348" y="3310128"/>
            <a:ext cx="11173968" cy="1417320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7348" y="3310128"/>
            <a:ext cx="11173968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7076" y="3584448"/>
            <a:ext cx="731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1476" y="3438145"/>
            <a:ext cx="98298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C63FF"/>
                </a:solidFill>
                <a:latin typeface="Calibri"/>
              </a:rPr>
              <a:t>Behavior Matters More Than 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1476" y="3950208"/>
            <a:ext cx="9829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BDC3D6"/>
                </a:solidFill>
                <a:latin typeface="Calibri"/>
              </a:rPr>
              <a:t>What users stop doing reveals far more than what they continue. Absence of action is itself a signal.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7348" y="5047488"/>
            <a:ext cx="11173968" cy="1417320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7348" y="5047488"/>
            <a:ext cx="11173968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7076" y="5321807"/>
            <a:ext cx="731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FFFFFF"/>
                </a:solidFill>
                <a:latin typeface="Calibri"/>
              </a:rPr>
              <a:t>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1476" y="5175504"/>
            <a:ext cx="98298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6B6B"/>
                </a:solidFill>
                <a:latin typeface="Calibri"/>
              </a:rPr>
              <a:t>Not Every Metric Is Meaningful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1476" y="5687568"/>
            <a:ext cx="9829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BDC3D6"/>
                </a:solidFill>
                <a:latin typeface="Calibri"/>
              </a:rPr>
              <a:t>Skip rate and engagement level had almost no predictive power here. Data analysis means knowing what to ignore.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348" y="6565393"/>
            <a:ext cx="11457432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 dirty="0">
                <a:solidFill>
                  <a:srgbClr val="FFFF00"/>
                </a:solidFill>
                <a:latin typeface="Calibri"/>
              </a:rPr>
              <a:t>Nisha Kumari  |  Music Streaming Churn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7348" y="6528816"/>
            <a:ext cx="11457432" cy="18288"/>
          </a:xfrm>
          <a:prstGeom prst="rect">
            <a:avLst/>
          </a:prstGeom>
          <a:solidFill>
            <a:srgbClr val="2A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73152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7348" y="292608"/>
            <a:ext cx="1145743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C63FF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348" y="749809"/>
            <a:ext cx="114574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rial Black"/>
              </a:rPr>
              <a:t>Think Beyond the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348" y="2084832"/>
            <a:ext cx="11457432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 dirty="0">
                <a:solidFill>
                  <a:srgbClr val="00D4FF"/>
                </a:solidFill>
                <a:latin typeface="Bell MT" panose="02020503060305020303" pitchFamily="18" charset="0"/>
              </a:rPr>
              <a:t>The goal isn't dashboards.</a:t>
            </a:r>
          </a:p>
          <a:p>
            <a:pPr algn="ctr">
              <a:spcAft>
                <a:spcPts val="800"/>
              </a:spcAft>
            </a:pPr>
            <a:r>
              <a:rPr sz="2400" b="1" dirty="0">
                <a:solidFill>
                  <a:srgbClr val="00D4FF"/>
                </a:solidFill>
                <a:latin typeface="Bell MT" panose="02020503060305020303" pitchFamily="18" charset="0"/>
              </a:rPr>
              <a:t>It's understanding behavior before it becomes loss.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6983" y="3547872"/>
            <a:ext cx="2377440" cy="713232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026983" y="3547872"/>
            <a:ext cx="237744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26983" y="3621024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📊  Excel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07344" y="3547872"/>
            <a:ext cx="2377440" cy="713232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07344" y="3547872"/>
            <a:ext cx="237744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07344" y="3621024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🗄️  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87704" y="3547872"/>
            <a:ext cx="2377440" cy="713232"/>
          </a:xfrm>
          <a:prstGeom prst="roundRect">
            <a:avLst>
              <a:gd name="adj" fmla="val 28000"/>
            </a:avLst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87704" y="3547872"/>
            <a:ext cx="2377440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87704" y="3621024"/>
            <a:ext cx="2377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📈  Power BI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348" y="4773168"/>
            <a:ext cx="1145743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7348" y="4892040"/>
            <a:ext cx="11457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Nisha Kumari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348" y="5468112"/>
            <a:ext cx="1145743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 dirty="0">
                <a:solidFill>
                  <a:srgbClr val="FFFF00"/>
                </a:solidFill>
                <a:latin typeface="Calibri"/>
              </a:rPr>
              <a:t>Data Analyst  |  Music Streaming Churn Analysis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635</Words>
  <Application>Microsoft Office PowerPoint</Application>
  <PresentationFormat>Widescreen</PresentationFormat>
  <Paragraphs>120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Bell MT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4</cp:revision>
  <dcterms:created xsi:type="dcterms:W3CDTF">2026-04-29T04:54:59Z</dcterms:created>
  <dcterms:modified xsi:type="dcterms:W3CDTF">2026-04-29T05:21:58Z</dcterms:modified>
</cp:coreProperties>
</file>